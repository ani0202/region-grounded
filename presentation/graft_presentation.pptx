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38BDF8"/>
                </a:solidFill>
                <a:latin typeface="Calibri"/>
              </a:defRPr>
            </a:pPr>
            <a:r>
              <a:t>GRAFT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0">
                <a:solidFill>
                  <a:srgbClr val="FFFFFF"/>
                </a:solidFill>
                <a:latin typeface="Calibri"/>
              </a:defRPr>
            </a:pPr>
            <a:r>
              <a:t>Grounding Region Annotations into Fine-Tuned Transformers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246120"/>
            <a:ext cx="39319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94A3B8"/>
                </a:solidFill>
                <a:latin typeface="Calibri"/>
              </a:defRPr>
            </a:pPr>
            <a:r>
              <a:t>TTIC 31280 — Models for Representing Images &amp; Videos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Siddharth Raj  ·  Aniket Agrawal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00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University of Chicago  | 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8BDF8"/>
                </a:solidFill>
                <a:latin typeface="Calibri"/>
              </a:defRPr>
            </a:pPr>
            <a:r>
              <a:t>Outline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2860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41732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4554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141732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Motivation &amp; Setup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176479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The problem, architecture, data, evaluation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0" y="1463040"/>
            <a:ext cx="1188720" cy="384048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0" y="146304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8BDF8"/>
                </a:solidFill>
                <a:latin typeface="Calibri"/>
              </a:defRPr>
            </a:pPr>
            <a:r>
              <a:t>~5 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6060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64414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260604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Main Findings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95351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Representation mismatches, variance, ablations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651760"/>
            <a:ext cx="1188720" cy="384048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0" y="26517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8BDF8"/>
                </a:solidFill>
                <a:latin typeface="Calibri"/>
              </a:defRPr>
            </a:pPr>
            <a:r>
              <a:t>~5 min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379476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383286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379476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Results &amp; Surprises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14223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Qualitative results, staircase training, auto-labels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3840480"/>
            <a:ext cx="1188720" cy="384048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384048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8BDF8"/>
                </a:solidFill>
                <a:latin typeface="Calibri"/>
              </a:defRPr>
            </a:pPr>
            <a:r>
              <a:t>~4 min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9834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02158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498348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533095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Next steps and open questions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029200"/>
            <a:ext cx="1188720" cy="384048"/>
          </a:xfrm>
          <a:prstGeom prst="roundRect">
            <a:avLst>
              <a:gd name="adj" fmla="val 15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0" y="50292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8BDF8"/>
                </a:solidFill>
                <a:latin typeface="Calibri"/>
              </a:defRPr>
            </a:pPr>
            <a:r>
              <a:t>~1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8BDF8"/>
                </a:solidFill>
                <a:latin typeface="Calibri"/>
              </a:defRPr>
            </a:pPr>
            <a:r>
              <a:t>The Problem: Spatial Blindness in VLMs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3444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38BDF8"/>
                </a:solidFill>
                <a:latin typeface="Calibri"/>
              </a:rPr>
              <a:t>▸ </a:t>
            </a:r>
            <a:r>
              <a:rPr sz="1600" b="1">
                <a:solidFill>
                  <a:srgbClr val="FFFFFF"/>
                </a:solidFill>
                <a:latin typeface="Calibri"/>
              </a:rPr>
              <a:t>CLIP / SigLIP </a:t>
            </a:r>
            <a:r>
              <a:rPr sz="1600">
                <a:solidFill>
                  <a:srgbClr val="94A3B8"/>
                </a:solidFill>
                <a:latin typeface="Calibri"/>
              </a:rPr>
              <a:t>train with global image–text contrastive objectives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38BDF8"/>
                </a:solidFill>
                <a:latin typeface="Calibri"/>
              </a:rPr>
              <a:t>▸ </a:t>
            </a:r>
            <a:r>
              <a:rPr sz="1600" b="1">
                <a:solidFill>
                  <a:srgbClr val="FFFFFF"/>
                </a:solidFill>
                <a:latin typeface="Calibri"/>
              </a:rPr>
              <a:t>Patch features are spatially coherent, </a:t>
            </a:r>
            <a:r>
              <a:rPr sz="1600">
                <a:solidFill>
                  <a:srgbClr val="94A3B8"/>
                </a:solidFill>
                <a:latin typeface="Calibri"/>
              </a:rPr>
              <a:t>but phrase-to-patch alignment is weak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38BDF8"/>
                </a:solidFill>
                <a:latin typeface="Calibri"/>
              </a:rPr>
              <a:t>▸ </a:t>
            </a:r>
            <a:r>
              <a:rPr sz="1600" b="1">
                <a:solidFill>
                  <a:srgbClr val="FFFFFF"/>
                </a:solidFill>
                <a:latin typeface="Calibri"/>
              </a:rPr>
              <a:t>This limits: </a:t>
            </a:r>
            <a:r>
              <a:rPr sz="1600">
                <a:solidFill>
                  <a:srgbClr val="94A3B8"/>
                </a:solidFill>
                <a:latin typeface="Calibri"/>
              </a:rPr>
              <a:t>referring expression comprehension, dense captioning, spatial QA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474720"/>
            <a:ext cx="5303520" cy="256032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6576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18CF8"/>
                </a:solidFill>
                <a:latin typeface="Calibri"/>
              </a:defRPr>
            </a:pPr>
            <a:r>
              <a:t>Why SigLIP?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818CF8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Sigmoid loss — </a:t>
            </a:r>
            <a:r>
              <a:rPr sz="1400">
                <a:solidFill>
                  <a:srgbClr val="94A3B8"/>
                </a:solidFill>
                <a:latin typeface="Calibri"/>
              </a:rPr>
              <a:t>no batch denominator → stronger image-text matching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818CF8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Less spatial bias than CLIP </a:t>
            </a:r>
            <a:r>
              <a:rPr sz="1400">
                <a:solidFill>
                  <a:srgbClr val="94A3B8"/>
                </a:solidFill>
                <a:latin typeface="Calibri"/>
              </a:rPr>
              <a:t>— a harder, more honest test case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818CF8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Success here </a:t>
            </a:r>
            <a:r>
              <a:rPr sz="1400">
                <a:solidFill>
                  <a:srgbClr val="94A3B8"/>
                </a:solidFill>
                <a:latin typeface="Calibri"/>
              </a:rPr>
              <a:t>implies generalisation to other contrastive VLMs</a:t>
            </a:r>
          </a:p>
        </p:txBody>
      </p:sp>
      <p:pic>
        <p:nvPicPr>
          <p:cNvPr id="8" name="Picture 7" descr="flickr30k_entities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005840"/>
            <a:ext cx="5120640" cy="51620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62179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Flickr30k Entities — phrase → bounding box annotations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8BDF8"/>
                </a:solidFill>
                <a:latin typeface="Calibri"/>
              </a:defRPr>
            </a:pPr>
            <a:r>
              <a:t>GRAFT: What We Built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84048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645920" y="1234440"/>
            <a:ext cx="8869680" cy="658368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280160"/>
            <a:ext cx="8869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Calibri"/>
              </a:defRPr>
            </a:pPr>
            <a:r>
              <a:t>Freeze SigLIP  +  LoRA adapters  +  Region loss   →   ℒ = ℒ_global + 0.5 · ℒ_region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5120640" cy="3977639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8892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LoRA on q-proj, v-proj </a:t>
            </a:r>
            <a:r>
              <a:rPr sz="1500">
                <a:solidFill>
                  <a:srgbClr val="94A3B8"/>
                </a:solidFill>
                <a:latin typeface="Calibri"/>
              </a:rPr>
              <a:t>(both encoders)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Rank 4, α=16 </a:t>
            </a:r>
            <a:r>
              <a:rPr sz="1500">
                <a:solidFill>
                  <a:srgbClr val="94A3B8"/>
                </a:solidFill>
                <a:latin typeface="Calibri"/>
              </a:rPr>
              <a:t>→ 295K trainable params (0.14% of backbone)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MaskCLIP bypass </a:t>
            </a:r>
            <a:r>
              <a:rPr sz="1500">
                <a:solidFill>
                  <a:srgbClr val="94A3B8"/>
                </a:solidFill>
                <a:latin typeface="Calibri"/>
              </a:rPr>
              <a:t>installed before training — same path as eval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Best-PG snapshot: </a:t>
            </a:r>
            <a:r>
              <a:rPr sz="1500">
                <a:solidFill>
                  <a:srgbClr val="94A3B8"/>
                </a:solidFill>
                <a:latin typeface="Calibri"/>
              </a:rPr>
              <a:t>checkpoint LoRA weights every 200 steps (~1 MB)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48840"/>
            <a:ext cx="5212080" cy="3977639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BBF24"/>
                </a:solidFill>
                <a:latin typeface="Calibri"/>
              </a:defRPr>
            </a:pPr>
            <a:r>
              <a:t>Training Losses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78892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FBBF24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ℒ_global: </a:t>
            </a:r>
            <a:r>
              <a:rPr sz="1500">
                <a:solidFill>
                  <a:srgbClr val="94A3B8"/>
                </a:solidFill>
                <a:latin typeface="Calibri"/>
              </a:rPr>
              <a:t>sigmoid-SigLIP on MHAP pooler ↔ EOS caption embedding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BBF24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ℒ_region: </a:t>
            </a:r>
            <a:r>
              <a:rPr sz="1500">
                <a:solidFill>
                  <a:srgbClr val="94A3B8"/>
                </a:solidFill>
                <a:latin typeface="Calibri"/>
              </a:rPr>
              <a:t>FILIP-style EOS phrase ↔ patch max-pool over in-bbox patches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BBF24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λ = 0.5: </a:t>
            </a:r>
            <a:r>
              <a:rPr sz="1500">
                <a:solidFill>
                  <a:srgbClr val="94A3B8"/>
                </a:solidFill>
                <a:latin typeface="Calibri"/>
              </a:rPr>
              <a:t>region weight — higher destabilises training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FBBF24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Optimiser: </a:t>
            </a:r>
            <a:r>
              <a:rPr sz="1500">
                <a:solidFill>
                  <a:srgbClr val="94A3B8"/>
                </a:solidFill>
                <a:latin typeface="Calibri"/>
              </a:rPr>
              <a:t>AdamW, lr=2e-4, cosine decay, bf16 autocast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8BDF8"/>
                </a:solidFill>
                <a:latin typeface="Calibri"/>
              </a:defRPr>
            </a:pPr>
            <a:r>
              <a:t>Data &amp; Evaluation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34747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28346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Calibri"/>
              </a:defRPr>
            </a:pPr>
            <a:r>
              <a:t>Training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Flickr30k-Entities </a:t>
            </a:r>
            <a:r>
              <a:rPr sz="1500">
                <a:solidFill>
                  <a:srgbClr val="94A3B8"/>
                </a:solidFill>
                <a:latin typeface="Calibri"/>
              </a:rPr>
              <a:t>(29K train images)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Human-annotated phrase → bbox pairs </a:t>
            </a:r>
            <a:r>
              <a:rPr sz="1500">
                <a:solidFill>
                  <a:srgbClr val="94A3B8"/>
                </a:solidFill>
                <a:latin typeface="Calibri"/>
              </a:rPr>
              <a:t>(~5.7 phrases/image)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Also tested: </a:t>
            </a:r>
            <a:r>
              <a:rPr sz="1500">
                <a:solidFill>
                  <a:srgbClr val="94A3B8"/>
                </a:solidFill>
                <a:latin typeface="Calibri"/>
              </a:rPr>
              <a:t>Florence-2 auto-annotations (two modes)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4ADE80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15 experiments total </a:t>
            </a:r>
            <a:r>
              <a:rPr sz="1500">
                <a:solidFill>
                  <a:srgbClr val="94A3B8"/>
                </a:solidFill>
                <a:latin typeface="Calibri"/>
              </a:rPr>
              <a:t>iterating to the locked recipe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71600"/>
            <a:ext cx="5212080" cy="28346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5544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18CF8"/>
                </a:solidFill>
                <a:latin typeface="Calibri"/>
              </a:defRPr>
            </a:pPr>
            <a:r>
              <a:t>Evaluation Metrics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2011680"/>
            <a:ext cx="4754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818C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Pointing Game (PG): </a:t>
            </a:r>
            <a:r>
              <a:rPr sz="1500">
                <a:solidFill>
                  <a:srgbClr val="94A3B8"/>
                </a:solidFill>
                <a:latin typeface="Calibri"/>
              </a:rPr>
              <a:t>argmax patch centre inside GT bbox?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818C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Recall@1: </a:t>
            </a:r>
            <a:r>
              <a:rPr sz="1500">
                <a:solidFill>
                  <a:srgbClr val="94A3B8"/>
                </a:solidFill>
                <a:latin typeface="Calibri"/>
              </a:rPr>
              <a:t>tight box over top-k patches overlaps GT at IoU≥0.5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818C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Val: </a:t>
            </a:r>
            <a:r>
              <a:rPr sz="1500">
                <a:solidFill>
                  <a:srgbClr val="94A3B8"/>
                </a:solidFill>
                <a:latin typeface="Calibri"/>
              </a:rPr>
              <a:t>200 images, 2,124 phrase-bbox pairs (fixed)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818C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Test: </a:t>
            </a:r>
            <a:r>
              <a:rPr sz="1500">
                <a:solidFill>
                  <a:srgbClr val="94A3B8"/>
                </a:solidFill>
                <a:latin typeface="Calibri"/>
              </a:rPr>
              <a:t>2,900 held-out images, 28,467 pairs (SE≈0.24 pp)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526280"/>
            <a:ext cx="10698480" cy="13258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6634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BBF24"/>
                </a:solidFill>
                <a:latin typeface="Calibri"/>
              </a:defRPr>
            </a:pPr>
            <a:r>
              <a:t>Frozen Baseline (B0) — no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1206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Calibri"/>
              </a:defRPr>
            </a:pPr>
            <a:r>
              <a:t>PG = 14.74%     |     R@1 top-25 = 7.91%     |     R@1 halfmax = 7.58%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8BDF8"/>
                </a:solidFill>
                <a:latin typeface="Calibri"/>
              </a:defRPr>
            </a:pPr>
            <a:r>
              <a:t>The Journey: 15 Experiments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029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201168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463040"/>
            <a:ext cx="17922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94A3B8"/>
                </a:solidFill>
                <a:latin typeface="Calibri"/>
              </a:defRPr>
            </a:pPr>
            <a:r>
              <a:t>B0</a:t>
            </a:r>
            <a:br/>
            <a:r>
              <a:t>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606040"/>
            <a:ext cx="18653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14.74%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9464" y="3246120"/>
            <a:ext cx="21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79192" y="1325880"/>
            <a:ext cx="201168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88920" y="1463040"/>
            <a:ext cx="17922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ADE80"/>
                </a:solidFill>
                <a:latin typeface="Calibri"/>
              </a:defRPr>
            </a:pPr>
            <a:r>
              <a:t>Exp 03</a:t>
            </a:r>
            <a:br/>
            <a:r>
              <a:t>MaskCLIP</a:t>
            </a:r>
            <a:br/>
            <a:r>
              <a:t>Bypass 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52344" y="2606040"/>
            <a:ext cx="18653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22.08%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2344" y="3566160"/>
            <a:ext cx="186537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4ADE80"/>
                </a:solidFill>
                <a:latin typeface="Calibri"/>
              </a:defRPr>
            </a:pPr>
            <a:r>
              <a:t>+7.34 pp</a:t>
            </a:r>
            <a:br/>
            <a:r>
              <a:t>(largest gain)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16" y="3246120"/>
            <a:ext cx="21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09744" y="1325880"/>
            <a:ext cx="201168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9472" y="1463040"/>
            <a:ext cx="17922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38BDF8"/>
                </a:solidFill>
                <a:latin typeface="Calibri"/>
              </a:defRPr>
            </a:pPr>
            <a:r>
              <a:t>Exp 06</a:t>
            </a:r>
            <a:br/>
            <a:r>
              <a:t>Seed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2896" y="2606040"/>
            <a:ext cx="18653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18.68</a:t>
            </a:r>
            <a:br/>
            <a:r>
              <a:t>±2.57%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2896" y="3566160"/>
            <a:ext cx="186537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38BDF8"/>
                </a:solidFill>
                <a:latin typeface="Calibri"/>
              </a:defRPr>
            </a:pPr>
            <a:r>
              <a:t>True mean</a:t>
            </a:r>
            <a:br/>
            <a:r>
              <a:t>+3.94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0568" y="3246120"/>
            <a:ext cx="21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0296" y="1325880"/>
            <a:ext cx="201168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50024" y="1463040"/>
            <a:ext cx="17922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18CF8"/>
                </a:solidFill>
                <a:latin typeface="Calibri"/>
              </a:defRPr>
            </a:pPr>
            <a:r>
              <a:t>Exp 11</a:t>
            </a:r>
            <a:br/>
            <a:r>
              <a:t>EOS Fix 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8" y="2606040"/>
            <a:ext cx="18653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20.76</a:t>
            </a:r>
            <a:br/>
            <a:r>
              <a:t>±0.41%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13448" y="3566160"/>
            <a:ext cx="186537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18CF8"/>
                </a:solidFill>
                <a:latin typeface="Calibri"/>
              </a:defRPr>
            </a:pPr>
            <a:r>
              <a:t>6× variance↓</a:t>
            </a:r>
            <a:br/>
            <a:r>
              <a:t>+2.08 pp mean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3246120"/>
            <a:ext cx="21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4748B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70848" y="1325880"/>
            <a:ext cx="201168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0576" y="1463040"/>
            <a:ext cx="17922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BBF24"/>
                </a:solidFill>
                <a:latin typeface="Calibri"/>
              </a:defRPr>
            </a:pPr>
            <a:r>
              <a:t>Exp 13</a:t>
            </a:r>
            <a:br/>
            <a:r>
              <a:t>5 Epochs 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2606040"/>
            <a:ext cx="1865376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24.44%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566160"/>
            <a:ext cx="1865376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BBF24"/>
                </a:solidFill>
                <a:latin typeface="Calibri"/>
              </a:defRPr>
            </a:pPr>
            <a:r>
              <a:t>Best result</a:t>
            </a:r>
            <a:br/>
            <a:r>
              <a:t>+9.70 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806440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  <a:latin typeface="Calibri"/>
              </a:defRPr>
            </a:pPr>
            <a:r>
              <a:t>★ = major fix   |   Ablations between ★s all returned to the same mean (~18–21%)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2560320" cy="411480"/>
          </a:xfrm>
          <a:prstGeom prst="roundRect">
            <a:avLst>
              <a:gd name="adj" fmla="val 15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MAIN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Calibri"/>
              </a:defRPr>
            </a:pPr>
            <a:r>
              <a:t>Core Insight: Representation Alignment &gt; Loss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82296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94A3B8"/>
                </a:solidFill>
                <a:latin typeface="Calibri"/>
              </a:defRPr>
            </a:pPr>
            <a:r>
              <a:t>The two biggest gains come from fixing train/eval mismatches — not from changing the loss or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5303520" cy="3520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4ADE80"/>
                </a:solidFill>
                <a:latin typeface="Calibri"/>
              </a:defRPr>
            </a:pPr>
            <a:r>
              <a:t>Fix #1 — Image Path: MaskCLIP Bypass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127248"/>
            <a:ext cx="4846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Training used full self-attention; evaluation read bypass features → gradients sharpened the wrong representation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033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8BDF8"/>
                </a:solidFill>
                <a:latin typeface="Calibri"/>
              </a:defRPr>
            </a:pPr>
            <a:r>
              <a:t>bypass(h) = W_O · W_V · 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4ADE80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One-line fix: </a:t>
            </a:r>
            <a:r>
              <a:rPr sz="1400">
                <a:solidFill>
                  <a:srgbClr val="94A3B8"/>
                </a:solidFill>
                <a:latin typeface="Calibri"/>
              </a:rPr>
              <a:t>install bypass before training begins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4ADE80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Result: +7.34 pp PG </a:t>
            </a:r>
            <a:r>
              <a:rPr sz="1400">
                <a:solidFill>
                  <a:srgbClr val="94A3B8"/>
                </a:solidFill>
                <a:latin typeface="Calibri"/>
              </a:rPr>
              <a:t>— the largest single gain in the project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4ADE80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Shape change: </a:t>
            </a:r>
            <a:r>
              <a:rPr sz="1400">
                <a:solidFill>
                  <a:srgbClr val="94A3B8"/>
                </a:solidFill>
                <a:latin typeface="Calibri"/>
              </a:rPr>
              <a:t>broad weak activation → single sharp spike inside bbox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2514600"/>
            <a:ext cx="5029200" cy="352044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0" y="2697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18CF8"/>
                </a:solidFill>
                <a:latin typeface="Calibri"/>
              </a:defRPr>
            </a:pPr>
            <a:r>
              <a:t>Fix #2 — Text Path: EOS Token Alignment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3127248"/>
            <a:ext cx="4572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Region loss used mean(hidden_states); evaluation read only the EOS token → two different vectors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37033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818CF8"/>
                </a:solidFill>
                <a:latin typeface="Calibri"/>
              </a:defRPr>
            </a:pPr>
            <a:r>
              <a:t>e_phrase = last_hidden_state[:, -1, :]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2062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818CF8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Result: </a:t>
            </a:r>
            <a:r>
              <a:rPr sz="1400">
                <a:solidFill>
                  <a:srgbClr val="94A3B8"/>
                </a:solidFill>
                <a:latin typeface="Calibri"/>
              </a:rPr>
              <a:t>+2.08 pp mean PG across 3 seeds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818CF8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Variance: </a:t>
            </a:r>
            <a:r>
              <a:rPr sz="1400">
                <a:solidFill>
                  <a:srgbClr val="94A3B8"/>
                </a:solidFill>
                <a:latin typeface="Calibri"/>
              </a:rPr>
              <a:t>σ 2.57% → 0.41%  (6× reduction)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818CF8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Together: </a:t>
            </a:r>
            <a:r>
              <a:rPr sz="1400">
                <a:solidFill>
                  <a:srgbClr val="94A3B8"/>
                </a:solidFill>
                <a:latin typeface="Calibri"/>
              </a:rPr>
              <a:t>v5 → v10  from 18.68% to 20.76% mean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17220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4748B"/>
                </a:solidFill>
                <a:latin typeface="Calibri"/>
              </a:defRPr>
            </a:pPr>
            <a:r>
              <a:t>Ablations varying loss weight, LoRA targets, and aggregation all returned to the same mean once both fixes were in place.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8BDF8"/>
                </a:solidFill>
                <a:latin typeface="Calibri"/>
              </a:defRPr>
            </a:pPr>
            <a:r>
              <a:t>Text-Path Fix: Variance Collapse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475488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34440"/>
          <a:ext cx="106984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57912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Recipe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Seed 0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Seed 1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Seed 2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Mean ± Std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Δ vs B0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v5  (mean tokens)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19.26%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15.87%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20.90%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18.68 ± 2.57%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+3.94 pp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v10  (EOS fix)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20.57%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20.48%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21.23%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20.76 ± 0.41%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+6.02 pp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2461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BBF24"/>
                </a:solidFill>
                <a:latin typeface="Calibri"/>
              </a:defRPr>
            </a:pPr>
            <a:r>
              <a:t>σ: 2.57%  ──────────────────────→  0.41%    (6× reduction)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3192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38BD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Every v10 seed lands in [20.48, 21.23] </a:t>
            </a:r>
            <a:r>
              <a:rPr sz="1500">
                <a:solidFill>
                  <a:srgbClr val="94A3B8"/>
                </a:solidFill>
                <a:latin typeface="Calibri"/>
              </a:rPr>
              <a:t>— a 0.75 pp spread vs. v5's 5.03 pp spread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38BD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Best-PG snapshot: </a:t>
            </a:r>
            <a:r>
              <a:rPr sz="1500">
                <a:solidFill>
                  <a:srgbClr val="94A3B8"/>
                </a:solidFill>
                <a:latin typeface="Calibri"/>
              </a:rPr>
              <a:t>peak PG = final PG on every seed — late-training drift eliminated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38BD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Mechanistic reading: </a:t>
            </a:r>
            <a:r>
              <a:rPr sz="1500">
                <a:solidFill>
                  <a:srgbClr val="94A3B8"/>
                </a:solidFill>
                <a:latin typeface="Calibri"/>
              </a:rPr>
              <a:t>EOS fix raised the peak by aligning training with evaluation. Snapshot locked it in.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38BDF8"/>
                </a:solidFill>
                <a:latin typeface="Calibri"/>
              </a:rPr>
              <a:t>▸ </a:t>
            </a:r>
            <a:r>
              <a:rPr sz="1500" b="1">
                <a:solidFill>
                  <a:srgbClr val="FFFFFF"/>
                </a:solidFill>
                <a:latin typeface="Calibri"/>
              </a:rPr>
              <a:t>R@1 halfmax: </a:t>
            </a:r>
            <a:r>
              <a:rPr sz="1500">
                <a:solidFill>
                  <a:srgbClr val="94A3B8"/>
                </a:solidFill>
                <a:latin typeface="Calibri"/>
              </a:rPr>
              <a:t>7.30 ± 0.00% across all seeds — the model learns a stable broad signal; variance is in which patch wins argmax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8BDF8"/>
                </a:solidFill>
                <a:latin typeface="Calibri"/>
              </a:defRPr>
            </a:pPr>
            <a:r>
              <a:t>What Didn't Work: Ablations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43891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52044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3619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87171"/>
                </a:solidFill>
                <a:latin typeface="Calibri"/>
              </a:defRPr>
            </a:pPr>
            <a:r>
              <a:t>↑ Region Loss Weight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λ: 0.5 → 1.0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154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PG dropped −3.72 pp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R@1 improved — broader, not sharper response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Global loss provides structural regularisation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At λ=1.0: collapse to PG &lt; B0 at step 400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1371600"/>
            <a:ext cx="352044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153619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87171"/>
                </a:solidFill>
                <a:latin typeface="Calibri"/>
              </a:defRPr>
            </a:pPr>
            <a:r>
              <a:t>↑ LoRA Capacity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1920240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q+v → q+k+v  (+50% params)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286000"/>
            <a:ext cx="3154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Highest peak ever: 22.69% at step 400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Drifted to 17.80% by end of epoch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More capacity = more freedom to walk away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Peak improved; final result did not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371600"/>
            <a:ext cx="3520440" cy="42976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53619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87171"/>
                </a:solidFill>
                <a:latin typeface="Calibri"/>
              </a:defRPr>
            </a:pPr>
            <a:r>
              <a:t>Top-K Mean Loss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1920240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max-pool → mean of top-3 patches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286000"/>
            <a:ext cx="3154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19.35% vs 19.96% — within noise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R@1 halfmax: 7.30% identical on every variant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Aggregation is not the lever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F87171"/>
                </a:solidFill>
                <a:latin typeface="Calibri"/>
              </a:rPr>
              <a:t>▸ </a:t>
            </a:r>
            <a:r>
              <a:rPr sz="1300">
                <a:solidFill>
                  <a:srgbClr val="FFFFFF"/>
                </a:solidFill>
                <a:latin typeface="Calibri"/>
              </a:rPr>
              <a:t>Representation alignment 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852160"/>
            <a:ext cx="10698480" cy="68580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5943600"/>
            <a:ext cx="10149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8BDF8"/>
                </a:solidFill>
                <a:latin typeface="Calibri"/>
              </a:defRPr>
            </a:pPr>
            <a:r>
              <a:t>Takeaway: The bottleneck is representation consistency — not loss formulation or model capacity.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3017520" cy="411480"/>
          </a:xfrm>
          <a:prstGeom prst="roundRect">
            <a:avLst>
              <a:gd name="adj" fmla="val 15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QUALITATIVE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Most Dramatic Case — Image 1507563902  (n=3 phrases, each row = one phrase)</a:t>
            </a:r>
          </a:p>
        </p:txBody>
      </p:sp>
      <p:pic>
        <p:nvPicPr>
          <p:cNvPr id="5" name="Picture 4" descr="pg_viz_04_15075639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81328"/>
            <a:ext cx="4946292" cy="5166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760720" y="1481328"/>
            <a:ext cx="6080760" cy="51663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35040" y="1691640"/>
            <a:ext cx="5486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8BDF8"/>
                </a:solidFill>
                <a:latin typeface="Calibri"/>
              </a:defRPr>
            </a:pPr>
            <a:r>
              <a:t>Per-Model Pointing Game  (3 phrases)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2130552"/>
            <a:ext cx="539496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35040" y="233172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Frozen B0: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80" y="233172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87171"/>
                </a:solidFill>
                <a:latin typeface="Calibri"/>
              </a:defRPr>
            </a:pPr>
            <a:r>
              <a:t>33%   ✓✗✗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320040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M_human: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80" y="320040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100%  ✓✓✓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4069079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M_auto: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80" y="4069079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BBF24"/>
                </a:solidFill>
                <a:latin typeface="Calibri"/>
              </a:defRPr>
            </a:pPr>
            <a:r>
              <a:t>67%   ✓✓✗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5074920"/>
            <a:ext cx="539496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0" y="52120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B0 misses 2 of 3 phrases.  M_human hits all 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5715000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4748B"/>
                </a:solidFill>
                <a:latin typeface="Calibri"/>
              </a:defRPr>
            </a:pPr>
            <a:r>
              <a:t>Plasma heatmap = cosine similarity of each patch to the query phrase</a:t>
            </a:r>
            <a:br/>
            <a:r>
              <a:t>★ = argmax patch  (green=HIT / red=MISS)   ■ = ground-truth bbox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6751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Columns: Frozen B0  |  M_human  |  M_auto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365760"/>
            <a:ext cx="3017520" cy="411480"/>
          </a:xfrm>
          <a:prstGeom prst="roundRect">
            <a:avLst>
              <a:gd name="adj" fmla="val 15000"/>
            </a:avLst>
          </a:prstGeom>
          <a:solidFill>
            <a:srgbClr val="4ADE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172A"/>
                </a:solidFill>
                <a:latin typeface="Calibri"/>
              </a:defRPr>
            </a:pPr>
            <a:r>
              <a:t>QUALITATIVE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Calibri"/>
              </a:defRPr>
            </a:pPr>
            <a:r>
              <a:t>Largest Combined Gain — Image 1836335410  (n=3 phrases)</a:t>
            </a:r>
          </a:p>
        </p:txBody>
      </p:sp>
      <p:pic>
        <p:nvPicPr>
          <p:cNvPr id="5" name="Picture 4" descr="pg_viz_01_18363354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481328"/>
            <a:ext cx="4583611" cy="5166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577840" y="1481328"/>
            <a:ext cx="6263640" cy="516636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0" y="169164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38BDF8"/>
                </a:solidFill>
                <a:latin typeface="Calibri"/>
              </a:defRPr>
            </a:pPr>
            <a:r>
              <a:t>Per-Model Pointing Game  (3 phrases)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0" y="2130552"/>
            <a:ext cx="557784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0" y="233172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Frozen B0: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33172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87171"/>
                </a:solidFill>
                <a:latin typeface="Calibri"/>
              </a:defRPr>
            </a:pPr>
            <a:r>
              <a:t>0%    ✗✗✗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320040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M_human: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3200400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ADE80"/>
                </a:solidFill>
                <a:latin typeface="Calibri"/>
              </a:defRPr>
            </a:pPr>
            <a:r>
              <a:t>100%  ✓✓✓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4069079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4A3B8"/>
                </a:solidFill>
                <a:latin typeface="Calibri"/>
              </a:defRPr>
            </a:pPr>
            <a:r>
              <a:t>M_auto: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4069079"/>
            <a:ext cx="3474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BBF24"/>
                </a:solidFill>
                <a:latin typeface="Calibri"/>
              </a:defRPr>
            </a:pPr>
            <a:r>
              <a:t>33%   ✓✗✗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52160" y="5074920"/>
            <a:ext cx="5577840" cy="381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52120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Combined gain over B0: +133 pp across 3 phrases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5669280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Frozen model misses every phrase.</a:t>
            </a:r>
            <a:br/>
            <a:r>
              <a:t>Fine-tuned model (M_human) hits every phrase.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6675120"/>
            <a:ext cx="5029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Calibri"/>
              </a:defRPr>
            </a:pPr>
            <a:r>
              <a:t>Columns: Frozen B0  |  M_human  |  M_auto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8BDF8"/>
                </a:solidFill>
                <a:latin typeface="Calibri"/>
              </a:defRPr>
            </a:pPr>
            <a:r>
              <a:t>Longer Training: Staircase Improvement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54864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34440"/>
          <a:ext cx="585216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457200"/>
                <a:gridCol w="1005840"/>
                <a:gridCol w="1005840"/>
                <a:gridCol w="2560320"/>
              </a:tblGrid>
              <a:tr h="483325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Ep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 PG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PG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Behaviour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800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19.68%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19.92%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Matches 1-ep result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1600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19.40%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20.74%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Flat, oscillating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2400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19.21%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21.41%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Still flat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3000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23.59%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24.59%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STEP CHANGE +3 pp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3400 ★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24.44%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25.26%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Best-PG snapshot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4000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24.11%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26.03%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Late epoch 5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949440" y="1234440"/>
            <a:ext cx="4663440" cy="3749039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0" y="141732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ADE80"/>
                </a:solidFill>
                <a:latin typeface="Calibri"/>
              </a:defRPr>
            </a:pPr>
            <a:r>
              <a:t>Best Result (seed 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1920240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Val PG = 24.44%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239572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ADE80"/>
                </a:solidFill>
                <a:latin typeface="Calibri"/>
              </a:defRPr>
            </a:pPr>
            <a:r>
              <a:t>+9.70 pp over B0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2834640"/>
            <a:ext cx="4114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Calibri"/>
              </a:defRPr>
            </a:pPr>
            <a:r>
              <a:t>Test PG = 26.16%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331012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4ADE80"/>
                </a:solidFill>
                <a:latin typeface="Calibri"/>
              </a:defRPr>
            </a:pPr>
            <a:r>
              <a:t>+11.42 pp over B0  (~48σ signal)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376732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BBF24"/>
                </a:solidFill>
                <a:latin typeface="Calibri"/>
              </a:defRPr>
            </a:pPr>
            <a:r>
              <a:t>R@1 top-25 = 8.29%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16052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First model to beat B0's 7.91%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892040"/>
            <a:ext cx="10698480" cy="118872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983480"/>
            <a:ext cx="10241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  <a:latin typeface="Calibri"/>
              </a:defRPr>
            </a:pPr>
            <a:r>
              <a:t>Per-epoch cosine restarts kick the optimizer out of the epoch-1 basin. Epochs 1–3 reproduce the 1-epoch result; a step change occurs in epoch 4 (+3–5 pp). When ablations all fail, more training may be more productive than further hyperparameter search.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8BDF8"/>
                </a:solidFill>
                <a:latin typeface="Calibri"/>
              </a:defRPr>
            </a:pPr>
            <a:r>
              <a:t>Auto-Annotations: Vocabulary Controls Everything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64008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lorence2_v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078992"/>
            <a:ext cx="10972800" cy="21809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33192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Florence-2 CAPTION_TO_PHRASE_GROUNDING — short noun-phrase → bbox annotations on Flickr30k images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703320"/>
            <a:ext cx="5212080" cy="24688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8587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F87171"/>
                </a:solidFill>
                <a:latin typeface="Calibri"/>
              </a:defRPr>
            </a:pPr>
            <a:r>
              <a:t>M_auto: Dense Region Captions  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2519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F87171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Labels: </a:t>
            </a:r>
            <a:r>
              <a:rPr sz="1400">
                <a:solidFill>
                  <a:srgbClr val="94A3B8"/>
                </a:solidFill>
                <a:latin typeface="Calibri"/>
              </a:rPr>
              <a:t>"a woman in a blue top standing near a fence"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87171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PG ≈ 15.1% </a:t>
            </a:r>
            <a:r>
              <a:rPr sz="1400">
                <a:solidFill>
                  <a:srgbClr val="94A3B8"/>
                </a:solidFill>
                <a:latin typeface="Calibri"/>
              </a:rPr>
              <a:t>— barely above B0 (14.74%)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F87171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Root cause: </a:t>
            </a:r>
            <a:r>
              <a:rPr sz="1400">
                <a:solidFill>
                  <a:srgbClr val="94A3B8"/>
                </a:solidFill>
                <a:latin typeface="Calibri"/>
              </a:rPr>
              <a:t>training vocabulary ≠ evaluation phrases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703320"/>
            <a:ext cx="5212080" cy="2468880"/>
          </a:xfrm>
          <a:prstGeom prst="roundRect">
            <a:avLst>
              <a:gd name="adj" fmla="val 3000"/>
            </a:avLst>
          </a:prstGeom>
          <a:solidFill>
            <a:srgbClr val="1E293B"/>
          </a:solidFill>
          <a:ln w="12700">
            <a:solidFill>
              <a:srgbClr val="4ADE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38587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4ADE80"/>
                </a:solidFill>
                <a:latin typeface="Calibri"/>
              </a:defRPr>
            </a:pPr>
            <a:r>
              <a:t>M_cpg: Caption-to-Phrase Grounding  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251960"/>
            <a:ext cx="47548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4ADE80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Labels: </a:t>
            </a:r>
            <a:r>
              <a:rPr sz="1400">
                <a:solidFill>
                  <a:srgbClr val="94A3B8"/>
                </a:solidFill>
                <a:latin typeface="Calibri"/>
              </a:rPr>
              <a:t>"woman",  "blue top",  "fence"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4ADE80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PG = 23.35% </a:t>
            </a:r>
            <a:r>
              <a:rPr sz="1400">
                <a:solidFill>
                  <a:srgbClr val="94A3B8"/>
                </a:solidFill>
                <a:latin typeface="Calibri"/>
              </a:rPr>
              <a:t>— +8.25 pp over M_auto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4ADE80"/>
                </a:solidFill>
                <a:latin typeface="Calibri"/>
              </a:rPr>
              <a:t>▸ </a:t>
            </a:r>
            <a:r>
              <a:rPr sz="1400" b="1">
                <a:solidFill>
                  <a:srgbClr val="FFFFFF"/>
                </a:solidFill>
                <a:latin typeface="Calibri"/>
              </a:rPr>
              <a:t>Nearly matches M_human: </a:t>
            </a:r>
            <a:r>
              <a:rPr sz="1400">
                <a:solidFill>
                  <a:srgbClr val="94A3B8"/>
                </a:solidFill>
                <a:latin typeface="Calibri"/>
              </a:rPr>
              <a:t>23.35% vs 24.44%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BBF24"/>
                </a:solidFill>
                <a:latin typeface="Calibri"/>
              </a:defRPr>
            </a:pPr>
            <a:r>
              <a:t>Same Florence-2 model  ·  Same images  ·  Same recipe  ·  Only the labels differ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38BDF8"/>
                </a:solidFill>
                <a:latin typeface="Calibri"/>
              </a:defRPr>
            </a:pPr>
            <a:r>
              <a:t>Main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23444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828800"/>
                <a:gridCol w="1920240"/>
                <a:gridCol w="1920240"/>
                <a:gridCol w="1920240"/>
                <a:gridCol w="192024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Config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 PG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Test PG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R@1 top-25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R@1 halfmax</a:t>
                      </a:r>
                    </a:p>
                  </a:txBody>
                  <a:tcPr>
                    <a:solidFill>
                      <a:srgbClr val="1E406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B0 (frozen)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14.74%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7.91%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7.58%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M_human v5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FILIP, 1 ep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18.68 ± 2.57%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7.12 ± 0.12%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BBF24"/>
                          </a:solidFill>
                          <a:latin typeface="Calibri"/>
                        </a:defRPr>
                      </a:pPr>
                      <a:r>
                        <a:t>7.30 ± 0.00%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M_human v10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EOS+snap, 1 ep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20.76 ± 0.41%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8BDF8"/>
                          </a:solidFill>
                          <a:latin typeface="Calibri"/>
                        </a:defRPr>
                      </a:pPr>
                      <a:r>
                        <a:t>20.07 ± 1.67%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7.28%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M_human v11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EOS+snap, 5 ep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24.44%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26.16%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8.29%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7.30%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  <a:latin typeface="Calibri"/>
                        </a:defRPr>
                      </a:pPr>
                      <a:r>
                        <a:t>M_auto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Dense cap., 1 ep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87171"/>
                          </a:solidFill>
                          <a:latin typeface="Calibri"/>
                        </a:defRPr>
                      </a:pPr>
                      <a:r>
                        <a:t>~15.1%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M_cpg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Phrase gnd., 5 ep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23.35%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4ADE80"/>
                          </a:solidFill>
                          <a:latin typeface="Calibri"/>
                        </a:defRPr>
                      </a:pPr>
                      <a:r>
                        <a:t>23.15%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7223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30352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4ADE80"/>
                </a:solidFill>
                <a:latin typeface="Calibri"/>
              </a:defRPr>
            </a:pPr>
            <a:r>
              <a:t>Best single-seed: M_human v11 — 24.44% val / 26.16% test  (+9.70 / +11.42 pp over B0)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760720"/>
            <a:ext cx="10698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BBF24"/>
                </a:solidFill>
                <a:latin typeface="Calibri"/>
              </a:defRPr>
            </a:pPr>
            <a:r>
              <a:t>M_cpg nearly matches M_human (23.35% vs 24.44%) using only Florence-2 phrase labels — no human bboxes needed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172200"/>
            <a:ext cx="10698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Calibri"/>
              </a:defRPr>
            </a:pPr>
            <a:r>
              <a:t>† Single seed; 3-seed mean ± std pending for v11 and M_cpg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38BDF8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5128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2588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Calibri"/>
              </a:rPr>
              <a:t>Fix mismatches first. </a:t>
            </a:r>
            <a:r>
              <a:rPr sz="1700">
                <a:solidFill>
                  <a:srgbClr val="94A3B8"/>
                </a:solidFill>
                <a:latin typeface="Calibri"/>
              </a:rPr>
              <a:t>Train/eval alignment matters more than loss design. Two one-line fixes account for the bulk of improvement.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33172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5712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3172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Calibri"/>
              </a:rPr>
              <a:t>Measure variance before claiming improvement. </a:t>
            </a:r>
            <a:r>
              <a:rPr sz="1700">
                <a:solidFill>
                  <a:srgbClr val="94A3B8"/>
                </a:solidFill>
                <a:latin typeface="Calibri"/>
              </a:rPr>
              <a:t>The first single-seed result (22.08%) was +1.3σ noise. 3-seed verification is mandatory.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6296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33756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Calibri"/>
              </a:rPr>
              <a:t>Longer training with restarts finds better basins. </a:t>
            </a:r>
            <a:r>
              <a:rPr sz="1700">
                <a:solidFill>
                  <a:srgbClr val="94A3B8"/>
                </a:solidFill>
                <a:latin typeface="Calibri"/>
              </a:rPr>
              <a:t>Flat for 3 epochs, then a step change at epoch 4. When ablations fail — train longer.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34340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6880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34340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Calibri"/>
              </a:rPr>
              <a:t>For auto-labels, vocabulary is everything. </a:t>
            </a:r>
            <a:r>
              <a:rPr sz="1700">
                <a:solidFill>
                  <a:srgbClr val="94A3B8"/>
                </a:solidFill>
                <a:latin typeface="Calibri"/>
              </a:rPr>
              <a:t>Accurate bboxes + wrong phrase distribution = no improvement. M_cpg nearly matches M_human.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49240"/>
            <a:ext cx="438912" cy="438912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74640"/>
            <a:ext cx="43891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F172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349240"/>
            <a:ext cx="10058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FFFFFF"/>
                </a:solidFill>
                <a:latin typeface="Calibri"/>
              </a:rPr>
              <a:t>295K params, 40 min on an L4. </a:t>
            </a:r>
            <a:r>
              <a:rPr sz="1700">
                <a:solidFill>
                  <a:srgbClr val="94A3B8"/>
                </a:solidFill>
                <a:latin typeface="Calibri"/>
              </a:rPr>
              <a:t>Enough to teach SigLIP where phrases are — and composable with any existing SigLIP pipeline.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0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38BDF8"/>
                </a:solidFill>
                <a:latin typeface="Calibri"/>
              </a:defRPr>
            </a:pPr>
            <a:r>
              <a:t>Thank You!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2926080"/>
            <a:ext cx="3017520" cy="381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FFFFFF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38BDF8"/>
                </a:solidFill>
                <a:latin typeface="Calibri"/>
              </a:defRPr>
            </a:pPr>
            <a:r>
              <a:t>github.com/Ani0202/region-grounded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  <a:latin typeface="Calibri"/>
              </a:defRPr>
            </a:pPr>
            <a:r>
              <a:t>Siddharth Raj  ·  Aniket Agrawal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949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4748B"/>
                </a:solidFill>
                <a:latin typeface="Calibri"/>
              </a:defRPr>
            </a:pPr>
            <a:r>
              <a:t>University of Chicago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