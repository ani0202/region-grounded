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  <a:latin typeface="Calibri"/>
              </a:defRPr>
            </a:pPr>
            <a:r>
              <a:t>GRAFT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Grounding Region Annotations into Fine-Tuned Transformers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319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TTIC 31280 — Models for Representing Images &amp; Videos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Siddharth Raj  ·  Aniket Agrawal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University of Chicago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11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Motivation &amp;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What we set out to do and 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0876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  <a:latin typeface="Calibri"/>
              </a:defRPr>
            </a:pPr>
            <a:r>
              <a:t>~5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898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Main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Key results and conclusions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6974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  <a:latin typeface="Calibri"/>
              </a:defRPr>
            </a:pPr>
            <a:r>
              <a:t>~5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840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785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Surprises &amp; Lessons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Difficulties and new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8862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886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  <a:latin typeface="Calibri"/>
              </a:defRPr>
            </a:pPr>
            <a:r>
              <a:t>~3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029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673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Next steps and follow-ups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507492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5074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  <a:latin typeface="Calibri"/>
              </a:defRPr>
            </a:pPr>
            <a:r>
              <a:t>~2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The Problem: Spatial Blindness in VLMs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029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8BDF8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Vision-language models (CLIP, SigLIP) </a:t>
            </a:r>
            <a:r>
              <a:rPr sz="1700">
                <a:solidFill>
                  <a:srgbClr val="94A3B8"/>
                </a:solidFill>
                <a:latin typeface="Calibri"/>
              </a:rPr>
              <a:t>are trained with global image–text contrastive objectives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8BDF8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Patch tokens know WHAT is in the image, </a:t>
            </a:r>
            <a:r>
              <a:rPr sz="1700">
                <a:solidFill>
                  <a:srgbClr val="94A3B8"/>
                </a:solidFill>
                <a:latin typeface="Calibri"/>
              </a:rPr>
              <a:t>but not WHERE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8BDF8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This limits: </a:t>
            </a:r>
            <a:r>
              <a:rPr sz="1700">
                <a:solidFill>
                  <a:srgbClr val="94A3B8"/>
                </a:solidFill>
                <a:latin typeface="Calibri"/>
              </a:rPr>
              <a:t>referring expression comprehension, dense captioning, spatial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32004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Calibri"/>
              </a:defRPr>
            </a:pPr>
            <a:r>
              <a:t>Why SigLIP?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818CF8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Sigmoid contrastive loss </a:t>
            </a:r>
            <a:r>
              <a:rPr sz="1500">
                <a:solidFill>
                  <a:srgbClr val="94A3B8"/>
                </a:solidFill>
                <a:latin typeface="Calibri"/>
              </a:rPr>
              <a:t>— no batch denominator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818CF8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Stronger image-text matching, </a:t>
            </a:r>
            <a:r>
              <a:rPr sz="1500">
                <a:solidFill>
                  <a:srgbClr val="94A3B8"/>
                </a:solidFill>
                <a:latin typeface="Calibri"/>
              </a:rPr>
              <a:t>but even less spatial bias than CLIP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818CF8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Harder test case: </a:t>
            </a:r>
            <a:r>
              <a:rPr sz="1500">
                <a:solidFill>
                  <a:srgbClr val="94A3B8"/>
                </a:solidFill>
                <a:latin typeface="Calibri"/>
              </a:rPr>
              <a:t>success here implies generalisation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1097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Backbone: google/siglip-base-patch16-384  |  729 patches (27×27 grid)  |  ~200M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GRAFT: 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280160"/>
            <a:ext cx="7589520" cy="640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Freeze SigLIP  +  LoRA adapters  +  Region loss   →   ℒ = ℒ_global + 0.5 · ℒ_region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3840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DE80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LoRA on q-proj, v-proj </a:t>
            </a:r>
            <a:r>
              <a:rPr sz="1500">
                <a:solidFill>
                  <a:srgbClr val="94A3B8"/>
                </a:solidFill>
                <a:latin typeface="Calibri"/>
              </a:rPr>
              <a:t>(both encoders)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DE80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Rank 4, α=16 </a:t>
            </a:r>
            <a:r>
              <a:rPr sz="1500">
                <a:solidFill>
                  <a:srgbClr val="94A3B8"/>
                </a:solidFill>
                <a:latin typeface="Calibri"/>
              </a:rPr>
              <a:t>→ 295K trainable params (0.14% of backbone)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DE80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MaskCLIP bypass </a:t>
            </a:r>
            <a:r>
              <a:rPr sz="1500">
                <a:solidFill>
                  <a:srgbClr val="94A3B8"/>
                </a:solidFill>
                <a:latin typeface="Calibri"/>
              </a:rPr>
              <a:t>on final vision attention layer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DE80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Best-PG snapshot: </a:t>
            </a:r>
            <a:r>
              <a:rPr sz="1500">
                <a:solidFill>
                  <a:srgbClr val="94A3B8"/>
                </a:solidFill>
                <a:latin typeface="Calibri"/>
              </a:rPr>
              <a:t>track best LoRA weights during training (~1 MB)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212080" cy="3840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alibri"/>
              </a:defRPr>
            </a:pPr>
            <a:r>
              <a:t>Training Losses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BBF24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ℒ_global: </a:t>
            </a:r>
            <a:r>
              <a:rPr sz="1500">
                <a:solidFill>
                  <a:srgbClr val="94A3B8"/>
                </a:solidFill>
                <a:latin typeface="Calibri"/>
              </a:rPr>
              <a:t>sigmoid-SigLIP on MHAP pooler ↔ EOS caption embedding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BBF24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ℒ_region: </a:t>
            </a:r>
            <a:r>
              <a:rPr sz="1500">
                <a:solidFill>
                  <a:srgbClr val="94A3B8"/>
                </a:solidFill>
                <a:latin typeface="Calibri"/>
              </a:rPr>
              <a:t>FILIP-style EOS phrase ↔ patch features, max-pool over in-bbox patches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BBF24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λ = 0.5: </a:t>
            </a:r>
            <a:r>
              <a:rPr sz="1500">
                <a:solidFill>
                  <a:srgbClr val="94A3B8"/>
                </a:solidFill>
                <a:latin typeface="Calibri"/>
              </a:rPr>
              <a:t>region loss weight; higher destabilises training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BBF24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Optimiser: </a:t>
            </a:r>
            <a:r>
              <a:rPr sz="1500">
                <a:solidFill>
                  <a:srgbClr val="94A3B8"/>
                </a:solidFill>
                <a:latin typeface="Calibri"/>
              </a:rPr>
              <a:t>AdamW, lr=2e-4, cosine decay, bf16 autocast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Data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Training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DE80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Flickr30k-Entities </a:t>
            </a:r>
            <a:r>
              <a:rPr sz="1500">
                <a:solidFill>
                  <a:srgbClr val="94A3B8"/>
                </a:solidFill>
                <a:latin typeface="Calibri"/>
              </a:rPr>
              <a:t>(29K images)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DE80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Human-annotated phrase → bbox pairs </a:t>
            </a:r>
            <a:r>
              <a:rPr sz="1500">
                <a:solidFill>
                  <a:srgbClr val="94A3B8"/>
                </a:solidFill>
                <a:latin typeface="Calibri"/>
              </a:rPr>
              <a:t>(~5.7 phrases/image)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DE80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Also tested: </a:t>
            </a:r>
            <a:r>
              <a:rPr sz="1500">
                <a:solidFill>
                  <a:srgbClr val="94A3B8"/>
                </a:solidFill>
                <a:latin typeface="Calibri"/>
              </a:rPr>
              <a:t>Florence-2 auto-annotations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818CF8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Pointing Game (PG): </a:t>
            </a:r>
            <a:r>
              <a:rPr sz="1500">
                <a:solidFill>
                  <a:srgbClr val="94A3B8"/>
                </a:solidFill>
                <a:latin typeface="Calibri"/>
              </a:rPr>
              <a:t>argmax patch centre inside GT bbox?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818CF8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Val: </a:t>
            </a:r>
            <a:r>
              <a:rPr sz="1500">
                <a:solidFill>
                  <a:srgbClr val="94A3B8"/>
                </a:solidFill>
                <a:latin typeface="Calibri"/>
              </a:rPr>
              <a:t>200 images, 2,124 phrase-bbox pairs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818CF8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Held-out test: </a:t>
            </a:r>
            <a:r>
              <a:rPr sz="1500">
                <a:solidFill>
                  <a:srgbClr val="94A3B8"/>
                </a:solidFill>
                <a:latin typeface="Calibri"/>
              </a:rPr>
              <a:t>2,900 images, 28,467 pairs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818CF8"/>
                </a:solidFill>
                <a:latin typeface="Calibri"/>
              </a:rPr>
              <a:t>▸ </a:t>
            </a:r>
            <a:r>
              <a:rPr sz="1500" b="1">
                <a:solidFill>
                  <a:srgbClr val="FFFFFF"/>
                </a:solidFill>
                <a:latin typeface="Calibri"/>
              </a:rPr>
              <a:t>All results: </a:t>
            </a:r>
            <a:r>
              <a:rPr sz="1500">
                <a:solidFill>
                  <a:srgbClr val="94A3B8"/>
                </a:solidFill>
                <a:latin typeface="Calibri"/>
              </a:rPr>
              <a:t>3-seed mean ± std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698480" cy="12801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Frozen Baseline (B0)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PG = 14.74%     |     R@1 top-25 = 7.91%     |     R@1 halfmax = 7.58%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41148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MAIN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Core Insight: Representation Alignment &gt; Loss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The two biggest gains come from fixing train/eval mismatches,</a:t>
            </a:r>
            <a:br/>
            <a:r>
              <a:t>not from changing the loss or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02920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Fix #1: Image Path (MaskCLIP bypass)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DE80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Training: full self-attention → bypass: W_O · W_V · 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DE80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One-line change: install bypass before training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DE80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Result: +7.34 pp </a:t>
            </a:r>
            <a:r>
              <a:rPr sz="1400">
                <a:solidFill>
                  <a:srgbClr val="94A3B8"/>
                </a:solidFill>
                <a:latin typeface="Calibri"/>
              </a:rPr>
              <a:t>on PG (single-seed)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52120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t>Fix #2: Text Path (EOS alignment)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49039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818CF8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Training: mean(hidden_states) → EOS token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818CF8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+2.08 pp on 3-seed mean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818CF8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6× variance collapse: </a:t>
            </a:r>
            <a:r>
              <a:rPr sz="1400">
                <a:solidFill>
                  <a:srgbClr val="94A3B8"/>
                </a:solidFill>
                <a:latin typeface="Calibri"/>
              </a:rPr>
              <a:t>σ: 2.57% → 0.41%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All ablations varying loss weight, LoRA targets, and aggregation returned to the same mean after these fixes.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Text-Path Fix: Variance Collapse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Recipe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 0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 1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 2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± Std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vs B0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v5 (mean tokens)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19.26%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15.87%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20.90%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18.68 ± 2.57%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+3.94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v10 (EOS fix)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20.57%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20.48%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21.23%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20.76 ± 0.41%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+6.02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BF24"/>
                </a:solidFill>
                <a:latin typeface="Calibri"/>
              </a:defRPr>
            </a:pPr>
            <a:r>
              <a:t>σ: 2.57%  ───────────→  0.41%    (6× reduction)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8BDF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Every seed lands in [20.48, 21.23] </a:t>
            </a:r>
            <a:r>
              <a:rPr sz="1600">
                <a:solidFill>
                  <a:srgbClr val="94A3B8"/>
                </a:solidFill>
                <a:latin typeface="Calibri"/>
              </a:rPr>
              <a:t>— a 0.75 pp spread (vs v5's 5.03 pp)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8BDF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Best-PG snapshot </a:t>
            </a:r>
            <a:r>
              <a:rPr sz="1600">
                <a:solidFill>
                  <a:srgbClr val="94A3B8"/>
                </a:solidFill>
                <a:latin typeface="Calibri"/>
              </a:rPr>
              <a:t>eliminates late-training drift on every seed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8BDF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Mechanistic reading: </a:t>
            </a:r>
            <a:r>
              <a:rPr sz="1600">
                <a:solidFill>
                  <a:srgbClr val="94A3B8"/>
                </a:solidFill>
                <a:latin typeface="Calibri"/>
              </a:rPr>
              <a:t>EOS fix raised the peak; snapshot locked it. Both contribute orthogonally.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Longer Training: Staircase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029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 PG Range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Behaviour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200–800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16.34 – 19.68%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Matches 1-ep result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1000–1600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17.33 – 19.40%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Flat, oscillating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1800–2400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17.47 – 19.21%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Still flat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2600–3200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22.74 – 23.59%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STEP CHANGE: +3pp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3400–4000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23.26 – 24.44%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Plateau at new level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75120" y="1371600"/>
            <a:ext cx="4754880" cy="32004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Best Result (seed 1):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Val PG = 24.44%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DE80"/>
                </a:solidFill>
                <a:latin typeface="Calibri"/>
              </a:defRPr>
            </a:pPr>
            <a:r>
              <a:t>+9.70 pp over B0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Test PG = 26.16%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DE80"/>
                </a:solidFill>
                <a:latin typeface="Calibri"/>
              </a:defRPr>
            </a:pPr>
            <a:r>
              <a:t>+11.42 pp over B0  (~48σ signal)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Key insight: Per-epoch cosine restarts kick the optimizer out of the epoch-1 basin. When ablations all fail, more training may be more productive than further hyperparameter 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8BDF8"/>
                </a:solidFill>
                <a:latin typeface="Calibri"/>
              </a:defRPr>
            </a:pPr>
            <a:r>
              <a:t>Auto-Annotations: Vocabulary Controls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943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560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M_auto: Dense Region Captions  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87171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Florence-2 DENSE_REGION_CAPTION: </a:t>
            </a:r>
            <a:r>
              <a:rPr sz="1400">
                <a:solidFill>
                  <a:srgbClr val="94A3B8"/>
                </a:solidFill>
                <a:latin typeface="Calibri"/>
              </a:rPr>
              <a:t>verbose descriptions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7171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Example: </a:t>
            </a:r>
            <a:r>
              <a:rPr sz="1400">
                <a:solidFill>
                  <a:srgbClr val="94A3B8"/>
                </a:solidFill>
                <a:latin typeface="Calibri"/>
              </a:rPr>
              <a:t>"a woman in a blue top standing near a fence"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7171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PG ≈ 15.1% </a:t>
            </a:r>
            <a:r>
              <a:rPr sz="1400">
                <a:solidFill>
                  <a:srgbClr val="94A3B8"/>
                </a:solidFill>
                <a:latin typeface="Calibri"/>
              </a:rPr>
              <a:t>— barely above B0 (14.74%)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7171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Root cause: </a:t>
            </a:r>
            <a:r>
              <a:rPr sz="1400">
                <a:solidFill>
                  <a:srgbClr val="94A3B8"/>
                </a:solidFill>
                <a:latin typeface="Calibri"/>
              </a:rPr>
              <a:t>train vocabulary ≠ eval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5603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M_cpg: Caption-to-Phrase Grounding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DE80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Florence-2 CAPTION_TO_PHRASE_GROUNDING: </a:t>
            </a:r>
            <a:r>
              <a:rPr sz="1400">
                <a:solidFill>
                  <a:srgbClr val="94A3B8"/>
                </a:solidFill>
                <a:latin typeface="Calibri"/>
              </a:rPr>
              <a:t>short noun phrases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DE80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Example: </a:t>
            </a:r>
            <a:r>
              <a:rPr sz="1400">
                <a:solidFill>
                  <a:srgbClr val="94A3B8"/>
                </a:solidFill>
                <a:latin typeface="Calibri"/>
              </a:rPr>
              <a:t>"woman", "blue top"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DE80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PG = 23.35% </a:t>
            </a:r>
            <a:r>
              <a:rPr sz="1400">
                <a:solidFill>
                  <a:srgbClr val="94A3B8"/>
                </a:solidFill>
                <a:latin typeface="Calibri"/>
              </a:rPr>
              <a:t>— +8.25 pp over M_auto!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DE80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Nearly matches M_human: </a:t>
            </a:r>
            <a:r>
              <a:rPr sz="1400">
                <a:solidFill>
                  <a:srgbClr val="94A3B8"/>
                </a:solidFill>
                <a:latin typeface="Calibri"/>
              </a:rPr>
              <a:t>23.35% vs 24.44%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Calibri"/>
              </a:defRPr>
            </a:pPr>
            <a:r>
              <a:t>Same Florence-2 model  ·  Same images  ·  Same recipe  ·  Only the labels differ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5029200"/>
          <a:ext cx="914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 PG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vs B0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B0 (frozen)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14.74%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M_auto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Dense captions, 1 ep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~15.1%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+0.36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M_human v10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EOS+snap, 1 ep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20.76 ± 0.41%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+6.02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M_cpg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Phrase gnd., 5 ep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23.35%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+8.61</a:t>
                      </a:r>
                    </a:p>
                  </a:txBody>
                  <a:tcPr>
                    <a:solidFill>
                      <a:srgbClr val="1722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M_human v11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EOS+snap, 5 ep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24.44%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+9.70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200400" cy="411480"/>
          </a:xfrm>
          <a:prstGeom prst="roundRect">
            <a:avLst>
              <a:gd name="adj" fmla="val 15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SURPRISES &amp;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Surprise #1: PG is a High-Variance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486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8BDF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First single-seed "win": PG = 22.08% </a:t>
            </a:r>
            <a:r>
              <a:rPr sz="1600">
                <a:solidFill>
                  <a:srgbClr val="94A3B8"/>
                </a:solidFill>
                <a:latin typeface="Calibri"/>
              </a:rPr>
              <a:t>→ turned out to be +1.3σ outlier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8BDF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Across 3 identical seeds:</a:t>
            </a:r>
            <a:r>
              <a:rPr sz="1600">
                <a:solidFill>
                  <a:srgbClr val="94A3B8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8BDF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  PG: 18.68 ± 2.57% </a:t>
            </a:r>
            <a:r>
              <a:rPr sz="1600">
                <a:solidFill>
                  <a:srgbClr val="94A3B8"/>
                </a:solidFill>
                <a:latin typeface="Calibri"/>
              </a:rPr>
              <a:t>(spread &gt; improvement itself!)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8BDF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  R@1 halfmax: 7.30 ± 0.00% </a:t>
            </a:r>
            <a:r>
              <a:rPr sz="1600">
                <a:solidFill>
                  <a:srgbClr val="94A3B8"/>
                </a:solidFill>
                <a:latin typeface="Calibri"/>
              </a:rPr>
              <a:t>(identical to 4 decimal places!)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8BDF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Model learns same broad signal; </a:t>
            </a:r>
            <a:r>
              <a:rPr sz="1600">
                <a:solidFill>
                  <a:srgbClr val="94A3B8"/>
                </a:solidFill>
                <a:latin typeface="Calibri"/>
              </a:rPr>
              <a:t>variance is in which single patch wins argmax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011680"/>
            <a:ext cx="4297680" cy="32004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Lessons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56032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Single-seed Δ &lt; 2.6 pp is noise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Multi-seed verification is mandatory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BBF24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"Leader-seed" protocol: 1 seed to screen, 3 to confirm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Surprise #2: What Didn't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114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114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↑ Region Loss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λ: 0.5 →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87171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PG dropped −3.72 pp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87171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R@1 improved — broader, not sharper response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87171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Global loss provides essential regularisation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114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↑ LoRA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q+v → q+k+v (+50% params)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87171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Highest checkpoint ever: 22.69%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87171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But drifted to 17.80% by end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87171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More capacity = more room to 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114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Top-K Mean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max → mean of top-3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87171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19.35% vs 19.96% — within noise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87171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Aggregation is not the lever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87171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Representation alignment 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Takeaway: The bottleneck is representation consistency, not loss formulation or model capacity.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41148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Where to Go from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657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60320" cy="3840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286000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Calibri"/>
              </a:defRPr>
            </a:pPr>
            <a:r>
              <a:t>Broader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RefCOCO / RefCOCO+: relational expressions, different domain. Does grounding transfer beyond Flickr30k?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03120"/>
            <a:ext cx="2560320" cy="3840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03320" y="2286000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Dense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FILIP max-pool rewards one sharp patch — VOC mIoU regressed. At PG=24%, does spatial coherence improve?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03120"/>
            <a:ext cx="2560320" cy="3840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2286000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18CF8"/>
                </a:solidFill>
                <a:latin typeface="Calibri"/>
              </a:defRPr>
            </a:pPr>
            <a:r>
              <a:t>Multi-Granularity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Short phrases → longer relational descriptions. May need richer text representations than a single EOS token.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103120"/>
            <a:ext cx="2560320" cy="3840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72600" y="2286000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Calibri"/>
              </a:defRPr>
            </a:pPr>
            <a:r>
              <a:t>Auto-Labels at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M_cpg nearly matches M_human (23.35% vs 24.44%). Scale to CC3M/CC12M — no human bboxes needed.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97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Fix mismatches first. </a:t>
            </a:r>
            <a:r>
              <a:rPr sz="1700">
                <a:solidFill>
                  <a:srgbClr val="94A3B8"/>
                </a:solidFill>
                <a:latin typeface="Calibri"/>
              </a:rPr>
              <a:t>Train/eval alignment matters more than loss design or architecture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2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Measure variance before claiming improvement. </a:t>
            </a:r>
            <a:r>
              <a:rPr sz="1700">
                <a:solidFill>
                  <a:srgbClr val="94A3B8"/>
                </a:solidFill>
                <a:latin typeface="Calibri"/>
              </a:rPr>
              <a:t>First single-seed "win" was +1.3σ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832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08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Longer training with restarts finds better basins. </a:t>
            </a:r>
            <a:r>
              <a:rPr sz="1700">
                <a:solidFill>
                  <a:srgbClr val="94A3B8"/>
                </a:solidFill>
                <a:latin typeface="Calibri"/>
              </a:rPr>
              <a:t>Staircase dynamics: flat for 3 epochs, then jumps.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14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For auto-labels, vocabulary is everything. </a:t>
            </a:r>
            <a:r>
              <a:rPr sz="1700">
                <a:solidFill>
                  <a:srgbClr val="94A3B8"/>
                </a:solidFill>
                <a:latin typeface="Calibri"/>
              </a:rPr>
              <a:t>Accurate bboxes + wrong label distribution = no improvement.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3949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2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394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295K params and 40 min on an L4 </a:t>
            </a:r>
            <a:r>
              <a:rPr sz="1700">
                <a:solidFill>
                  <a:srgbClr val="94A3B8"/>
                </a:solidFill>
                <a:latin typeface="Calibri"/>
              </a:rPr>
              <a:t>are enough to teach SigLIP where things 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3017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BDF8"/>
                </a:solidFill>
                <a:latin typeface="Calibri"/>
              </a:defRPr>
            </a:pPr>
            <a:r>
              <a:t>github.com/Ani0202/region-grounded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Siddharth Raj  ·  Aniket Agrawal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University of Chicago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